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6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3657600"/>
            <a:ext cx="2926080" cy="2926080"/>
          </a:xfrm>
          <a:prstGeom prst="ellipse">
            <a:avLst/>
          </a:prstGeom>
          <a:noFill/>
          <a:ln w="508000">
            <a:solidFill>
              <a:srgbClr val="FFFFFF">
                <a:alpha val="1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1097280"/>
            <a:ext cx="2560320" cy="2560320"/>
          </a:xfrm>
          <a:prstGeom prst="ellipse">
            <a:avLst/>
          </a:prstGeom>
          <a:noFill/>
          <a:ln w="317500">
            <a:solidFill>
              <a:srgbClr val="FFFFFF">
                <a:alpha val="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89120" y="1188720"/>
            <a:ext cx="2377440" cy="320040"/>
          </a:xfrm>
          <a:prstGeom prst="roundRect">
            <a:avLst/>
          </a:prstGeom>
          <a:solidFill>
            <a:srgbClr val="1A7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0" y="1216152"/>
            <a:ext cx="2377440" cy="27432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CDDFF"/>
                </a:solidFill>
                <a:latin typeface="Alibaba PuHuiTi"/>
              </a:defRPr>
            </a:pPr>
            <a:r>
              <a:t>毕业论文答辩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920240"/>
            <a:ext cx="8869680" cy="50292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Alibaba PuHuiTi"/>
              </a:defRPr>
            </a:pPr>
            <a:r>
              <a:t>基于Netty+ZooKeeper+自定义协议的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514600"/>
            <a:ext cx="8869680" cy="50292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Alibaba PuHuiTi"/>
              </a:defRPr>
            </a:pPr>
            <a:r>
              <a:t>RPC框架设计与实现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291840"/>
            <a:ext cx="7589520" cy="32004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DEEFF"/>
                </a:solidFill>
                <a:latin typeface="Alibaba PuHuiTi"/>
              </a:defRPr>
            </a:pPr>
            <a:r>
              <a:t>dg-rpc：从零手写的轻量级 RPC 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840480"/>
            <a:ext cx="8503920" cy="32004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ACCFF"/>
                </a:solidFill>
                <a:latin typeface="Alibaba PuHuiTi"/>
              </a:defRPr>
            </a:pPr>
            <a:r>
              <a:t>自定义二进制协议 · Netty异步通信 · ZooKeeper服务治理 · Spring注解集成 · SSE链路可视化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5029200"/>
            <a:ext cx="7589520" cy="32004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BDDFF"/>
                </a:solidFill>
                <a:latin typeface="Alibaba PuHuiTi"/>
              </a:defRPr>
            </a:pPr>
            <a:r>
              <a:t>答辩人：丁岗  ·  学号：2701220304  ·  安徽科技工程大学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47472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212121"/>
                </a:solidFill>
                <a:latin typeface="Alibaba PuHuiTi"/>
              </a:defRPr>
            </a:pPr>
            <a:r>
              <a:t>汇报大纲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95528"/>
            <a:ext cx="9144000" cy="201168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Alibaba PuHuiTi"/>
              </a:defRPr>
            </a:pPr>
            <a:r>
              <a:t>以下将从六个方面展开汇报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19"/>
            <a:ext cx="3545738" cy="8915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" y="1197863"/>
            <a:ext cx="3472586" cy="36576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19" y="1261872"/>
            <a:ext cx="256032" cy="256032"/>
          </a:xfrm>
          <a:prstGeom prst="ellipse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libaba PuHuiT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261872"/>
            <a:ext cx="2997098" cy="22860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677FF"/>
                </a:solidFill>
                <a:latin typeface="Alibaba PuHuiTi"/>
              </a:defRPr>
            </a:pPr>
            <a:r>
              <a:t>选题动机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536191"/>
            <a:ext cx="3271418" cy="489204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为什么从零手写RPC框架</a:t>
            </a:r>
            <a:br/>
            <a:r>
              <a:t>框架定位与目标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2978" y="1188719"/>
            <a:ext cx="3545738" cy="8915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59554" y="1197863"/>
            <a:ext cx="3472586" cy="36576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14418" y="1261872"/>
            <a:ext cx="256032" cy="256032"/>
          </a:xfrm>
          <a:prstGeom prst="ellipse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libaba PuHuiT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4458" y="1261872"/>
            <a:ext cx="2997098" cy="22860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A8C16"/>
                </a:solidFill>
                <a:latin typeface="Alibaba PuHuiTi"/>
              </a:defRPr>
            </a:pPr>
            <a:r>
              <a:t>框架整体架构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2706" y="1536191"/>
            <a:ext cx="3271418" cy="489204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六层七模块设计</a:t>
            </a:r>
            <a:br/>
            <a:r>
              <a:t>按变化点分层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5876" y="1188719"/>
            <a:ext cx="3545738" cy="8915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2452" y="1197863"/>
            <a:ext cx="3472586" cy="36576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97316" y="1261872"/>
            <a:ext cx="256032" cy="256032"/>
          </a:xfrm>
          <a:prstGeom prst="ellipse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libaba PuHuiT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7356" y="1261872"/>
            <a:ext cx="2997098" cy="22860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C41A"/>
                </a:solidFill>
                <a:latin typeface="Alibaba PuHuiTi"/>
              </a:defRPr>
            </a:pPr>
            <a:r>
              <a:t>关键实现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5604" y="1536191"/>
            <a:ext cx="3271418" cy="489204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自定义协议 · 异步转同步</a:t>
            </a:r>
            <a:br/>
            <a:r>
              <a:t>ZooKeeper服务发现 · Spring集成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657600"/>
            <a:ext cx="3545738" cy="8915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6656" y="3666744"/>
            <a:ext cx="3472586" cy="36576"/>
          </a:xfrm>
          <a:prstGeom prst="rect">
            <a:avLst/>
          </a:prstGeom>
          <a:solidFill>
            <a:srgbClr val="13C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19" y="3730752"/>
            <a:ext cx="256032" cy="256032"/>
          </a:xfrm>
          <a:prstGeom prst="ellipse">
            <a:avLst/>
          </a:prstGeom>
          <a:solidFill>
            <a:srgbClr val="13C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libaba PuHuiT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730752"/>
            <a:ext cx="2997098" cy="22860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3C2C2"/>
                </a:solidFill>
                <a:latin typeface="Alibaba PuHuiTi"/>
              </a:defRPr>
            </a:pPr>
            <a:r>
              <a:t>完整调用链路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005072"/>
            <a:ext cx="3271418" cy="489204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从代理拦截到反射执行</a:t>
            </a:r>
            <a:br/>
            <a:r>
              <a:t>端到端调用全流程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2978" y="3657600"/>
            <a:ext cx="3545738" cy="8915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59554" y="3666744"/>
            <a:ext cx="3472586" cy="36576"/>
          </a:xfrm>
          <a:prstGeom prst="rect">
            <a:avLst/>
          </a:prstGeom>
          <a:solidFill>
            <a:srgbClr val="722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414418" y="3730752"/>
            <a:ext cx="256032" cy="256032"/>
          </a:xfrm>
          <a:prstGeom prst="ellipse">
            <a:avLst/>
          </a:prstGeom>
          <a:solidFill>
            <a:srgbClr val="722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libaba PuHuiT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34458" y="3730752"/>
            <a:ext cx="2997098" cy="22860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722ED1"/>
                </a:solidFill>
                <a:latin typeface="Alibaba PuHuiTi"/>
              </a:defRPr>
            </a:pPr>
            <a:r>
              <a:t>测试结果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2706" y="4005072"/>
            <a:ext cx="3271418" cy="489204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功能测试 · 性能基准</a:t>
            </a:r>
            <a:br/>
            <a:r>
              <a:t>JSON vs Hessian 对比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05876" y="3657600"/>
            <a:ext cx="3545738" cy="8915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2452" y="3666744"/>
            <a:ext cx="3472586" cy="36576"/>
          </a:xfrm>
          <a:prstGeom prst="rect">
            <a:avLst/>
          </a:prstGeom>
          <a:solidFill>
            <a:srgbClr val="F5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097316" y="3730752"/>
            <a:ext cx="256032" cy="256032"/>
          </a:xfrm>
          <a:prstGeom prst="ellipse">
            <a:avLst/>
          </a:prstGeom>
          <a:solidFill>
            <a:srgbClr val="F5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libaba PuHuiTi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7356" y="3730752"/>
            <a:ext cx="2997098" cy="22860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5222D"/>
                </a:solidFill>
                <a:latin typeface="Alibaba PuHuiTi"/>
              </a:defRPr>
            </a:pPr>
            <a:r>
              <a:t>总结与反思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15604" y="4005072"/>
            <a:ext cx="3271418" cy="489204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六大核心成果</a:t>
            </a:r>
            <a:br/>
            <a:r>
              <a:t>不足与改进方向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47472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212121"/>
                </a:solidFill>
                <a:latin typeface="Alibaba PuHuiTi"/>
              </a:defRPr>
            </a:pPr>
            <a:r>
              <a:t>选题动机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95528"/>
            <a:ext cx="9144000" cy="201168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Alibaba PuHuiTi"/>
              </a:defRPr>
            </a:pPr>
            <a:r>
              <a:t>为什么从零手写一个 RPC 框架？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19"/>
            <a:ext cx="5346039" cy="580644"/>
          </a:xfrm>
          <a:prstGeom prst="roundRect">
            <a:avLst/>
          </a:prstGeom>
          <a:solidFill>
            <a:srgbClr val="E6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188719"/>
            <a:ext cx="36576" cy="580644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61872"/>
            <a:ext cx="5071719" cy="443484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做分布式开发，RPC 是绕不开的技术，服务拆分后进程内方法调用变成了跨网络远程调用。开发者要处理序列化、网络传输、服务寻址等底层问题。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9091"/>
            <a:ext cx="5346039" cy="8915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6656" y="1888235"/>
            <a:ext cx="5272887" cy="36576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52243"/>
            <a:ext cx="5117439" cy="22860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677FF"/>
                </a:solidFill>
                <a:latin typeface="Alibaba PuHuiTi"/>
              </a:defRPr>
            </a:pPr>
            <a:r>
              <a:t>现有框架的痛点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226563"/>
            <a:ext cx="5071719" cy="489204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Dubbo、gRPC 功能强大，但代码量大、配置多。初学者很难看清"一次 RPC 调用到底经历了什么"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80359"/>
            <a:ext cx="5346039" cy="72009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6656" y="2889503"/>
            <a:ext cx="5272887" cy="36576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953511"/>
            <a:ext cx="5117439" cy="22860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A8C16"/>
                </a:solidFill>
                <a:latin typeface="Alibaba PuHuiTi"/>
              </a:defRPr>
            </a:pPr>
            <a:r>
              <a:t>dg-rpc 的目标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227831"/>
            <a:ext cx="5071719" cy="317754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从零手写轻量级 RPC 框架，把核心链路走通，让每一步都能说清楚为什么这么做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5575" y="1188719"/>
            <a:ext cx="5346039" cy="8915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2151" y="1197863"/>
            <a:ext cx="5272887" cy="36576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5303" y="1261872"/>
            <a:ext cx="5117439" cy="22860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C41A"/>
                </a:solidFill>
                <a:latin typeface="Alibaba PuHuiTi"/>
              </a:defRPr>
            </a:pPr>
            <a:r>
              <a:t>框架定位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5303" y="1536191"/>
            <a:ext cx="5071719" cy="489204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不是替代 Dubbo，而是让你能看清 RPC 每一步在做什么——从代理拦截到协议编码，从服务发现到反射调用，链路完整、代码可读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5575" y="2189987"/>
            <a:ext cx="5346039" cy="106299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42151" y="2199131"/>
            <a:ext cx="5272887" cy="36576"/>
          </a:xfrm>
          <a:prstGeom prst="rect">
            <a:avLst/>
          </a:prstGeom>
          <a:solidFill>
            <a:srgbClr val="722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15303" y="2263139"/>
            <a:ext cx="5117439" cy="22860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722ED1"/>
                </a:solidFill>
                <a:latin typeface="Alibaba PuHuiTi"/>
              </a:defRPr>
            </a:pPr>
            <a:r>
              <a:t>技术选型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5303" y="2537459"/>
            <a:ext cx="5071719" cy="660653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Netty 4.1 | ZooKeeper</a:t>
            </a:r>
            <a:br/>
            <a:r>
              <a:t>自定义二进制协议 | JDK 动态代理</a:t>
            </a:r>
            <a:br/>
            <a:r>
              <a:t>Spring Boot 3 | SSE 可视化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5575" y="3362706"/>
            <a:ext cx="5346039" cy="106299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42151" y="3371849"/>
            <a:ext cx="5272887" cy="36576"/>
          </a:xfrm>
          <a:prstGeom prst="rect">
            <a:avLst/>
          </a:prstGeom>
          <a:solidFill>
            <a:srgbClr val="13C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15303" y="3435858"/>
            <a:ext cx="5117439" cy="22860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3C2C2"/>
                </a:solidFill>
                <a:latin typeface="Alibaba PuHuiTi"/>
              </a:defRPr>
            </a:pPr>
            <a:r>
              <a:t>核心价值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5303" y="3710178"/>
            <a:ext cx="5071719" cy="660653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看得清：每层代码可直接读懂</a:t>
            </a:r>
            <a:br/>
            <a:r>
              <a:t>讲得明：每个决策都有明确理由</a:t>
            </a:r>
            <a:br/>
            <a:r>
              <a:t>跑得通：端到端链路完整可运行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47472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212121"/>
                </a:solidFill>
                <a:latin typeface="Alibaba PuHuiTi"/>
              </a:defRPr>
            </a:pPr>
            <a:r>
              <a:t>框架整体架构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95528"/>
            <a:ext cx="9144000" cy="201168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Alibaba PuHuiTi"/>
              </a:defRPr>
            </a:pPr>
            <a:r>
              <a:t>六层七模块，按变化点分层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19"/>
            <a:ext cx="5346039" cy="621792"/>
          </a:xfrm>
          <a:prstGeom prst="roundRect">
            <a:avLst/>
          </a:prstGeom>
          <a:solidFill>
            <a:srgbClr val="F9F0FF"/>
          </a:solidFill>
          <a:ln w="12700">
            <a:solidFill>
              <a:srgbClr val="722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188719"/>
            <a:ext cx="36576" cy="621792"/>
          </a:xfrm>
          <a:prstGeom prst="rect">
            <a:avLst/>
          </a:prstGeom>
          <a:solidFill>
            <a:srgbClr val="722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252728"/>
            <a:ext cx="1143000" cy="201168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22ED1"/>
                </a:solidFill>
                <a:latin typeface="Alibaba PuHuiTi"/>
              </a:defRPr>
            </a:pPr>
            <a:r>
              <a:t>演示层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39" y="1252728"/>
            <a:ext cx="1371600" cy="201168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libaba PuHuiTi"/>
              </a:defRPr>
            </a:pPr>
            <a:r>
              <a:t>dg-rpc-demo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39" y="1252728"/>
            <a:ext cx="2611983" cy="41148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Alibaba PuHuiTi"/>
              </a:defRPr>
            </a:pPr>
            <a:r>
              <a:t>HTTP 桥接 + SSE 可视化 + Benchmark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01952"/>
            <a:ext cx="5346039" cy="621792"/>
          </a:xfrm>
          <a:prstGeom prst="roundRect">
            <a:avLst/>
          </a:prstGeom>
          <a:solidFill>
            <a:srgbClr val="F6FFED"/>
          </a:solidFill>
          <a:ln w="12700">
            <a:solidFill>
              <a:srgbClr val="52C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6576" cy="621792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965960"/>
            <a:ext cx="1143000" cy="201168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C41A"/>
                </a:solidFill>
                <a:latin typeface="Alibaba PuHuiTi"/>
              </a:defRPr>
            </a:pPr>
            <a:r>
              <a:t>Spring 集成层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39" y="1965960"/>
            <a:ext cx="1371600" cy="201168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libaba PuHuiTi"/>
              </a:defRPr>
            </a:pPr>
            <a:r>
              <a:t>dg-rpc-spring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39" y="1965960"/>
            <a:ext cx="2611983" cy="41148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Alibaba PuHuiTi"/>
              </a:defRPr>
            </a:pPr>
            <a:r>
              <a:t>@RpcService @RpcReference 自动配置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615184"/>
            <a:ext cx="5346039" cy="621792"/>
          </a:xfrm>
          <a:prstGeom prst="roundRect">
            <a:avLst/>
          </a:prstGeom>
          <a:solidFill>
            <a:srgbClr val="E6F4FF"/>
          </a:solidFill>
          <a:ln w="12700"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615184"/>
            <a:ext cx="36576" cy="621792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2679191"/>
            <a:ext cx="1143000" cy="201168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77FF"/>
                </a:solidFill>
                <a:latin typeface="Alibaba PuHuiTi"/>
              </a:defRPr>
            </a:pPr>
            <a:r>
              <a:t>核心调用层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39" y="2679191"/>
            <a:ext cx="1371600" cy="201168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libaba PuHuiTi"/>
              </a:defRPr>
            </a:pPr>
            <a:r>
              <a:t>dg-rpc-core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39" y="2679191"/>
            <a:ext cx="2611983" cy="41148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Alibaba PuHuiTi"/>
              </a:defRPr>
            </a:pPr>
            <a:r>
              <a:t>RpcClientProxy · LoadBalancer · Config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328415"/>
            <a:ext cx="5346039" cy="621792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A8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328415"/>
            <a:ext cx="36576" cy="621792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3392423"/>
            <a:ext cx="1143000" cy="201168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A8C16"/>
                </a:solidFill>
                <a:latin typeface="Alibaba PuHuiTi"/>
              </a:defRPr>
            </a:pPr>
            <a:r>
              <a:t>传输层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39" y="3392423"/>
            <a:ext cx="1371600" cy="201168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libaba PuHuiTi"/>
              </a:defRPr>
            </a:pPr>
            <a:r>
              <a:t>dg-rpc-transport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39" y="3392423"/>
            <a:ext cx="2611983" cy="41148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Alibaba PuHuiTi"/>
              </a:defRPr>
            </a:pPr>
            <a:r>
              <a:t>Netty Client/Server · Handler · Future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041648"/>
            <a:ext cx="5346039" cy="621792"/>
          </a:xfrm>
          <a:prstGeom prst="roundRect">
            <a:avLst/>
          </a:prstGeom>
          <a:solidFill>
            <a:srgbClr val="E6FFFB"/>
          </a:solidFill>
          <a:ln w="12700">
            <a:solidFill>
              <a:srgbClr val="13C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041648"/>
            <a:ext cx="36576" cy="621792"/>
          </a:xfrm>
          <a:prstGeom prst="rect">
            <a:avLst/>
          </a:prstGeom>
          <a:solidFill>
            <a:srgbClr val="13C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4105656"/>
            <a:ext cx="1143000" cy="201168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C2C2"/>
                </a:solidFill>
                <a:latin typeface="Alibaba PuHuiTi"/>
              </a:defRPr>
            </a:pPr>
            <a:r>
              <a:t>注册治理层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39" y="4105656"/>
            <a:ext cx="1371600" cy="201168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libaba PuHuiTi"/>
              </a:defRPr>
            </a:pPr>
            <a:r>
              <a:t>dg-rpc-registry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39" y="4105656"/>
            <a:ext cx="2611983" cy="41148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Alibaba PuHuiTi"/>
              </a:defRPr>
            </a:pPr>
            <a:r>
              <a:t>ZooKeeper · InMemory · ServiceDiscovery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754880"/>
            <a:ext cx="5346039" cy="621792"/>
          </a:xfrm>
          <a:prstGeom prst="roundRect">
            <a:avLst/>
          </a:prstGeom>
          <a:solidFill>
            <a:srgbClr val="FFF1F0"/>
          </a:solidFill>
          <a:ln w="12700">
            <a:solidFill>
              <a:srgbClr val="F52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4754880"/>
            <a:ext cx="36576" cy="621792"/>
          </a:xfrm>
          <a:prstGeom prst="rect">
            <a:avLst/>
          </a:prstGeom>
          <a:solidFill>
            <a:srgbClr val="F5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4818888"/>
            <a:ext cx="1143000" cy="201168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5222D"/>
                </a:solidFill>
                <a:latin typeface="Alibaba PuHuiTi"/>
              </a:defRPr>
            </a:pPr>
            <a:r>
              <a:t>协议层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39" y="4818888"/>
            <a:ext cx="1371600" cy="201168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libaba PuHuiTi"/>
              </a:defRPr>
            </a:pPr>
            <a:r>
              <a:t>dg-rpc-protocol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39" y="4818888"/>
            <a:ext cx="2611983" cy="41148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Alibaba PuHuiTi"/>
              </a:defRPr>
            </a:pPr>
            <a:r>
              <a:t>RpcMessage · 编解码 · 序列化工厂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05575" y="1188719"/>
            <a:ext cx="5346039" cy="580644"/>
          </a:xfrm>
          <a:prstGeom prst="roundRect">
            <a:avLst/>
          </a:prstGeom>
          <a:solidFill>
            <a:srgbClr val="E6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05575" y="1188719"/>
            <a:ext cx="36576" cy="580644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42735" y="1261872"/>
            <a:ext cx="5071719" cy="443484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按变化点分层——协议格式可能变，注册中心可能换，序列化方式可能换，这些都被隔离成独立模块。改一个不影响其他。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05575" y="1879091"/>
            <a:ext cx="5346039" cy="106299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42151" y="1888235"/>
            <a:ext cx="5272887" cy="36576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15303" y="1952243"/>
            <a:ext cx="5117439" cy="22860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677FF"/>
                </a:solidFill>
                <a:latin typeface="Alibaba PuHuiTi"/>
              </a:defRPr>
            </a:pPr>
            <a:r>
              <a:t>开闭原则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15303" y="2226563"/>
            <a:ext cx="5071719" cy="660653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序列化 → 实现 Serializer 接口</a:t>
            </a:r>
            <a:br/>
            <a:r>
              <a:t>注册中心 → 实现 ServiceRegistry + ServiceDiscovery</a:t>
            </a:r>
            <a:br/>
            <a:r>
              <a:t>负载均衡 → 实现 LoadBalancer 接口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05575" y="3051810"/>
            <a:ext cx="5346039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42151" y="3060953"/>
            <a:ext cx="5272887" cy="36576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15303" y="3124962"/>
            <a:ext cx="5117439" cy="22860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A8C16"/>
                </a:solidFill>
                <a:latin typeface="Alibaba PuHuiTi"/>
              </a:defRPr>
            </a:pPr>
            <a:r>
              <a:t>模块依赖方向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15303" y="3399282"/>
            <a:ext cx="5071719" cy="832103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core 依赖 transport、registry、protocol</a:t>
            </a:r>
            <a:br/>
            <a:r>
              <a:t>transport 不依赖 core</a:t>
            </a:r>
            <a:br/>
            <a:r>
              <a:t>registry 不依赖 core</a:t>
            </a:r>
            <a:br/>
            <a:r>
              <a:t>依赖单向，不循环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47472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212121"/>
                </a:solidFill>
                <a:latin typeface="Alibaba PuHuiTi"/>
              </a:defRPr>
            </a:pPr>
            <a:r>
              <a:t>自定义协议头设计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95528"/>
            <a:ext cx="9144000" cy="201168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Alibaba PuHuiTi"/>
              </a:defRPr>
            </a:pPr>
            <a:r>
              <a:t>19 字节固定头，解决 TCP 粘包/拆包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19"/>
            <a:ext cx="1463040" cy="548640"/>
          </a:xfrm>
          <a:prstGeom prst="round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libaba PuHuiTi"/>
              </a:defRPr>
            </a:pPr>
            <a:r>
              <a:t>Magic</a:t>
            </a:r>
          </a:p>
          <a:p>
            <a:pPr algn="ctr">
              <a:defRPr sz="900">
                <a:solidFill>
                  <a:srgbClr val="DDDDFF"/>
                </a:solidFill>
                <a:latin typeface="Alibaba PuHuiTi"/>
              </a:defRPr>
            </a:pPr>
            <a:r>
              <a:t>4B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57984" y="1188719"/>
            <a:ext cx="1005840" cy="548640"/>
          </a:xfrm>
          <a:prstGeom prst="roundRect">
            <a:avLst/>
          </a:prstGeom>
          <a:solidFill>
            <a:srgbClr val="722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libaba PuHuiTi"/>
              </a:defRPr>
            </a:pPr>
            <a:r>
              <a:t>Version</a:t>
            </a:r>
          </a:p>
          <a:p>
            <a:pPr algn="ctr">
              <a:defRPr sz="900">
                <a:solidFill>
                  <a:srgbClr val="DDDDFF"/>
                </a:solidFill>
                <a:latin typeface="Alibaba PuHuiTi"/>
              </a:defRPr>
            </a:pPr>
            <a:r>
              <a:t>1B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18688" y="1188719"/>
            <a:ext cx="1005840" cy="548640"/>
          </a:xfrm>
          <a:prstGeom prst="round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libaba PuHuiTi"/>
              </a:defRPr>
            </a:pPr>
            <a:r>
              <a:t>MsgType</a:t>
            </a:r>
          </a:p>
          <a:p>
            <a:pPr algn="ctr">
              <a:defRPr sz="900">
                <a:solidFill>
                  <a:srgbClr val="DDDDFF"/>
                </a:solidFill>
                <a:latin typeface="Alibaba PuHuiTi"/>
              </a:defRPr>
            </a:pPr>
            <a:r>
              <a:t>1B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188719"/>
            <a:ext cx="1188720" cy="548640"/>
          </a:xfrm>
          <a:prstGeom prst="round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libaba PuHuiTi"/>
              </a:defRPr>
            </a:pPr>
            <a:r>
              <a:t>Serializer</a:t>
            </a:r>
          </a:p>
          <a:p>
            <a:pPr algn="ctr">
              <a:defRPr sz="900">
                <a:solidFill>
                  <a:srgbClr val="DDDDFF"/>
                </a:solidFill>
                <a:latin typeface="Alibaba PuHuiTi"/>
              </a:defRPr>
            </a:pPr>
            <a:r>
              <a:t>1B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22976" y="1188719"/>
            <a:ext cx="1645920" cy="548640"/>
          </a:xfrm>
          <a:prstGeom prst="roundRect">
            <a:avLst/>
          </a:prstGeom>
          <a:solidFill>
            <a:srgbClr val="13C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libaba PuHuiTi"/>
              </a:defRPr>
            </a:pPr>
            <a:r>
              <a:t>RequestId</a:t>
            </a:r>
          </a:p>
          <a:p>
            <a:pPr algn="ctr">
              <a:defRPr sz="900">
                <a:solidFill>
                  <a:srgbClr val="DDDDFF"/>
                </a:solidFill>
                <a:latin typeface="Alibaba PuHuiTi"/>
              </a:defRPr>
            </a:pPr>
            <a:r>
              <a:t>8B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1188719"/>
            <a:ext cx="1463040" cy="548640"/>
          </a:xfrm>
          <a:prstGeom prst="roundRect">
            <a:avLst/>
          </a:prstGeom>
          <a:solidFill>
            <a:srgbClr val="F5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libaba PuHuiTi"/>
              </a:defRPr>
            </a:pPr>
            <a:r>
              <a:t>DataLen</a:t>
            </a:r>
          </a:p>
          <a:p>
            <a:pPr algn="ctr">
              <a:defRPr sz="900">
                <a:solidFill>
                  <a:srgbClr val="DDDDFF"/>
                </a:solidFill>
                <a:latin typeface="Alibaba PuHuiTi"/>
              </a:defRPr>
            </a:pPr>
            <a:r>
              <a:t>4B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874519"/>
            <a:ext cx="3545738" cy="8915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6656" y="1883663"/>
            <a:ext cx="3472586" cy="36576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947672"/>
            <a:ext cx="3317138" cy="22860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677FF"/>
                </a:solidFill>
                <a:latin typeface="Alibaba PuHuiTi"/>
              </a:defRPr>
            </a:pPr>
            <a:r>
              <a:t>Magic 0x44475250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221991"/>
            <a:ext cx="3271418" cy="489204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"DGRP"的ASCII编码，收到数据先校验魔数，不对直接丢弃——快速排错防误连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2978" y="1874519"/>
            <a:ext cx="3545738" cy="8915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59554" y="1883663"/>
            <a:ext cx="3472586" cy="36576"/>
          </a:xfrm>
          <a:prstGeom prst="rect">
            <a:avLst/>
          </a:prstGeom>
          <a:solidFill>
            <a:srgbClr val="13C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2706" y="1947672"/>
            <a:ext cx="3317138" cy="22860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3C2C2"/>
                </a:solidFill>
                <a:latin typeface="Alibaba PuHuiTi"/>
              </a:defRPr>
            </a:pPr>
            <a:r>
              <a:t>RequestId 8字节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2706" y="2221991"/>
            <a:ext cx="3271418" cy="489204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AtomicLong递增，异步通信中匹配请求与响应的关键，2^63÷100万/秒≈29万年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5876" y="1874519"/>
            <a:ext cx="3545738" cy="8915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2452" y="1883663"/>
            <a:ext cx="3472586" cy="36576"/>
          </a:xfrm>
          <a:prstGeom prst="rect">
            <a:avLst/>
          </a:prstGeom>
          <a:solidFill>
            <a:srgbClr val="F5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5604" y="1947672"/>
            <a:ext cx="3317138" cy="22860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5222D"/>
                </a:solidFill>
                <a:latin typeface="Alibaba PuHuiTi"/>
              </a:defRPr>
            </a:pPr>
            <a:r>
              <a:t>DataLength 4字节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5604" y="2221991"/>
            <a:ext cx="3271418" cy="489204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配合ByteToMessageDecoder，不够就resetReaderIndex()等待，够了就读取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246120"/>
            <a:ext cx="5346039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6656" y="3255263"/>
            <a:ext cx="5272887" cy="36576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319272"/>
            <a:ext cx="5117439" cy="22860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677FF"/>
                </a:solidFill>
                <a:latin typeface="Alibaba PuHuiTi"/>
              </a:defRPr>
            </a:pPr>
            <a:r>
              <a:t>vs Dubbo 协议头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3630168"/>
            <a:ext cx="5071719" cy="301752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3648456"/>
            <a:ext cx="1371600" cy="256032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libaba PuHuiTi"/>
              </a:defRPr>
            </a:pPr>
            <a:r>
              <a:t>对比项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3648456"/>
            <a:ext cx="1645920" cy="256032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libaba PuHuiTi"/>
              </a:defRPr>
            </a:pPr>
            <a:r>
              <a:t>Dubbo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3648456"/>
            <a:ext cx="1645920" cy="256032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libaba PuHuiTi"/>
              </a:defRPr>
            </a:pPr>
            <a:r>
              <a:t>dg-rpc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3950207"/>
            <a:ext cx="5071719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3968495"/>
            <a:ext cx="1371600" cy="256032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头长度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3968495"/>
            <a:ext cx="1645920" cy="256032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16字节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86200" y="3968495"/>
            <a:ext cx="1645920" cy="256032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19字节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270248"/>
            <a:ext cx="5071719" cy="301752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4288536"/>
            <a:ext cx="1371600" cy="256032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Magic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4288536"/>
            <a:ext cx="1645920" cy="256032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2字节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86200" y="4288536"/>
            <a:ext cx="1645920" cy="256032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4字节(更不易碰撞)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4590288"/>
            <a:ext cx="5071719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4608575"/>
            <a:ext cx="1371600" cy="256032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序列化标识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4608575"/>
            <a:ext cx="1645920" cy="256032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flag位域(位运算)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86200" y="4608575"/>
            <a:ext cx="1645920" cy="256032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独立1字节(更直观)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" y="4910327"/>
            <a:ext cx="5071719" cy="301752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4928615"/>
            <a:ext cx="1371600" cy="256032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版本字段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4928615"/>
            <a:ext cx="1645920" cy="256032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86200" y="4928615"/>
            <a:ext cx="1645920" cy="256032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有(预留升级)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05575" y="3246120"/>
            <a:ext cx="5346039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42151" y="3255263"/>
            <a:ext cx="5272887" cy="36576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15303" y="3319272"/>
            <a:ext cx="5117439" cy="22860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677FF"/>
                </a:solidFill>
                <a:latin typeface="Alibaba PuHuiTi"/>
              </a:defRPr>
            </a:pPr>
            <a:r>
              <a:t>编解码核心逻辑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42735" y="3630168"/>
            <a:ext cx="5071719" cy="2484882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000" b="1">
                <a:solidFill>
                  <a:srgbClr val="1677FF"/>
                </a:solidFill>
                <a:latin typeface="Alibaba PuHuiTi"/>
              </a:defRPr>
            </a:pPr>
            <a:r>
              <a:t>Encoder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RpcMessageEncoder extends MessageToByteEncoder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→ 按19字节头顺序写入ByteBuf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000" b="1">
                <a:solidFill>
                  <a:srgbClr val="1677FF"/>
                </a:solidFill>
                <a:latin typeface="Alibaba PuHuiTi"/>
              </a:defRPr>
            </a:pPr>
            <a:r>
              <a:t>Decoder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RpcMessageDecoder extends ByteToMessageDecoder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→ readableBytes &lt; 19 → return 等待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→ markReaderIndex() → 读协议头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→ readableBytes &lt; dataLength → resetReaderIndex()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→ 读取数据体，构造RpcMessage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47472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212121"/>
                </a:solidFill>
                <a:latin typeface="Alibaba PuHuiTi"/>
              </a:defRPr>
            </a:pPr>
            <a:r>
              <a:t>异步转同步：CompletableFuture 桥接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95528"/>
            <a:ext cx="9144000" cy="201168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Alibaba PuHuiTi"/>
              </a:defRPr>
            </a:pPr>
            <a:r>
              <a:t>Netty 是异步的，业务代码期望同步调用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19"/>
            <a:ext cx="10911535" cy="580644"/>
          </a:xfrm>
          <a:prstGeom prst="roundRect">
            <a:avLst/>
          </a:prstGeom>
          <a:solidFill>
            <a:srgbClr val="E6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188719"/>
            <a:ext cx="36576" cy="580644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61872"/>
            <a:ext cx="10637215" cy="443484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业务代码写 helloService.sayHello("world")，期望拿到 String，不想管 Future 和回调。用 CompletableFuture 做桥接，让异步 Netty 变成同步语义。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06524"/>
            <a:ext cx="10911535" cy="457200"/>
          </a:xfrm>
          <a:prstGeom prst="round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06524"/>
            <a:ext cx="27432" cy="45720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016252"/>
            <a:ext cx="256032" cy="256032"/>
          </a:xfrm>
          <a:prstGeom prst="ellipse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libaba PuHuiT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1924812"/>
            <a:ext cx="1097280" cy="18288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12121"/>
                </a:solidFill>
                <a:latin typeface="Alibaba PuHuiTi"/>
              </a:defRPr>
            </a:pPr>
            <a:r>
              <a:t>创建 Future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76272" y="1924812"/>
            <a:ext cx="8991295" cy="244602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以 requestId 为 key，将 CompletableFuture&lt;RpcResponse&gt; 存入 ConcurrentHashMap 等待表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6876"/>
            <a:ext cx="10911535" cy="457200"/>
          </a:xfrm>
          <a:prstGeom prst="round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436876"/>
            <a:ext cx="27432" cy="45720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2546604"/>
            <a:ext cx="256032" cy="256032"/>
          </a:xfrm>
          <a:prstGeom prst="ellipse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libaba PuHuiT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2455164"/>
            <a:ext cx="1097280" cy="18288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12121"/>
                </a:solidFill>
                <a:latin typeface="Alibaba PuHuiTi"/>
              </a:defRPr>
            </a:pPr>
            <a:r>
              <a:t>阻塞等待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76272" y="2455164"/>
            <a:ext cx="8991295" cy="244602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调用线程执行 future.get(requestTimeoutMs, MILLISECONDS)，默认超时5秒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967228"/>
            <a:ext cx="10911535" cy="598932"/>
          </a:xfrm>
          <a:prstGeom prst="round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2967228"/>
            <a:ext cx="27432" cy="598932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49808" y="3076956"/>
            <a:ext cx="256032" cy="256032"/>
          </a:xfrm>
          <a:prstGeom prst="ellipse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libaba PuHuiT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2985516"/>
            <a:ext cx="1097280" cy="18288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12121"/>
                </a:solidFill>
                <a:latin typeface="Alibaba PuHuiTi"/>
              </a:defRPr>
            </a:pPr>
            <a:r>
              <a:t>响应到达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76272" y="2985516"/>
            <a:ext cx="8991295" cy="416052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RpcClientHandler.channelRead 根据 requestId 从等待表取出 Future，调 future.complete(response)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639312"/>
            <a:ext cx="10911535" cy="457200"/>
          </a:xfrm>
          <a:prstGeom prst="round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3639312"/>
            <a:ext cx="27432" cy="45720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49808" y="3749039"/>
            <a:ext cx="256032" cy="256032"/>
          </a:xfrm>
          <a:prstGeom prst="ellipse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libaba PuHuiT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3657600"/>
            <a:ext cx="1097280" cy="18288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12121"/>
                </a:solidFill>
                <a:latin typeface="Alibaba PuHuiTi"/>
              </a:defRPr>
            </a:pPr>
            <a:r>
              <a:t>唤醒返回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76272" y="3657600"/>
            <a:ext cx="8991295" cy="244602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调用线程被唤醒，检查异常/JSON类型矫正，返回结果给业务代码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306824"/>
            <a:ext cx="5346039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6656" y="4315968"/>
            <a:ext cx="5272887" cy="36576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4379976"/>
            <a:ext cx="5117439" cy="22860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677FF"/>
                </a:solidFill>
                <a:latin typeface="Alibaba PuHuiTi"/>
              </a:defRPr>
            </a:pPr>
            <a:r>
              <a:t>两层 Future 的区别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690872"/>
            <a:ext cx="5071719" cy="182880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000" b="1">
                <a:solidFill>
                  <a:srgbClr val="1677FF"/>
                </a:solidFill>
                <a:latin typeface="Alibaba PuHuiTi"/>
              </a:defRPr>
            </a:pPr>
            <a:r>
              <a:t>ChannelFuture（Netty层）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→ channel.writeAndFlush() 返回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→ 代表"消息是否写到了网络缓冲区"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000" b="1">
                <a:solidFill>
                  <a:srgbClr val="FA8C16"/>
                </a:solidFill>
                <a:latin typeface="Alibaba PuHuiTi"/>
              </a:defRPr>
            </a:pPr>
            <a:r>
              <a:t>CompletableFuture（RPC层）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→ 自己创建和管理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→ 代表"服务端已处理完并返回了结果"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000" b="1">
                <a:solidFill>
                  <a:srgbClr val="1677FF"/>
                </a:solidFill>
                <a:latin typeface="Alibaba PuHuiTi"/>
              </a:defRPr>
            </a:pPr>
            <a:r>
              <a:t>管"发出去了没" vs 管"结果回来了没"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05575" y="4306824"/>
            <a:ext cx="5346039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2151" y="4315968"/>
            <a:ext cx="5272887" cy="36576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15303" y="4379976"/>
            <a:ext cx="5117439" cy="22860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677FF"/>
                </a:solidFill>
                <a:latin typeface="Alibaba PuHuiTi"/>
              </a:defRPr>
            </a:pPr>
            <a:r>
              <a:t>超时与清理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42735" y="4690872"/>
            <a:ext cx="5071719" cy="182880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超时 → future.get() 抛 TimeoutException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→ removePendingRequest(requestId) 清理等待表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→ future.cancel(true) 释放资源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→ 包装为 RpcException 抛出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000" b="1">
                <a:solidFill>
                  <a:srgbClr val="FA8C16"/>
                </a:solidFill>
                <a:latin typeface="Alibaba PuHuiTi"/>
              </a:defRPr>
            </a:pPr>
            <a:r>
              <a:t>IdleStateHandler：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客户端30秒、服务端60秒全空闲超时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自动关闭死连接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47472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212121"/>
                </a:solidFill>
                <a:latin typeface="Alibaba PuHuiTi"/>
              </a:defRPr>
            </a:pPr>
            <a:r>
              <a:t>ZooKeeper 服务注册与发现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95528"/>
            <a:ext cx="9144000" cy="201168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Alibaba PuHuiTi"/>
              </a:defRPr>
            </a:pPr>
            <a:r>
              <a:t>临时顺序节点实现服务自动注册与摘除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19"/>
            <a:ext cx="5346039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" y="1197863"/>
            <a:ext cx="5272887" cy="36576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261872"/>
            <a:ext cx="5117439" cy="22860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677FF"/>
                </a:solidFill>
                <a:latin typeface="Alibaba PuHuiTi"/>
              </a:defRPr>
            </a:pPr>
            <a:r>
              <a:t>服务注册（Provider 启动）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536191"/>
            <a:ext cx="5071719" cy="694944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6666"/>
                </a:solidFill>
                <a:latin typeface="Alibaba PuHuiTi"/>
              </a:defRPr>
            </a:pPr>
            <a:r>
              <a:t>1. 检查持久节点 /dg-rpc/HelloService 是否存在</a:t>
            </a:r>
            <a:br/>
            <a:r>
              <a:t>2. 创建临时顺序节点：instance-0000000000</a:t>
            </a:r>
            <a:br/>
            <a:r>
              <a:t>3. 节点数据 = host:port</a:t>
            </a:r>
            <a:br/>
            <a:r>
              <a:t>4. 缓存实际路径到 registeredPaths（用于反注册）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77440"/>
            <a:ext cx="5346039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6656" y="2386584"/>
            <a:ext cx="5272887" cy="36576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450592"/>
            <a:ext cx="5117439" cy="22860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C41A"/>
                </a:solidFill>
                <a:latin typeface="Alibaba PuHuiTi"/>
              </a:defRPr>
            </a:pPr>
            <a:r>
              <a:t>服务发现（Consumer 调用）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724912"/>
            <a:ext cx="5071719" cy="694944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6666"/>
                </a:solidFill>
                <a:latin typeface="Alibaba PuHuiTi"/>
              </a:defRPr>
            </a:pPr>
            <a:r>
              <a:t>1. 读取 /dg-rpc/HelloService 下所有子节点</a:t>
            </a:r>
            <a:br/>
            <a:r>
              <a:t>2. 逐一读取节点数据，解析为 ServiceInstance</a:t>
            </a:r>
            <a:br/>
            <a:r>
              <a:t>3. 负载均衡选择一个实例发起调用</a:t>
            </a:r>
            <a:br/>
            <a:r>
              <a:t>当前：每次调用都主动拉取（优化方向见右）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66160"/>
            <a:ext cx="5346039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" y="3575304"/>
            <a:ext cx="5272887" cy="36576"/>
          </a:xfrm>
          <a:prstGeom prst="rect">
            <a:avLst/>
          </a:prstGeom>
          <a:solidFill>
            <a:srgbClr val="F5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639312"/>
            <a:ext cx="5117439" cy="22860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5222D"/>
                </a:solidFill>
                <a:latin typeface="Alibaba PuHuiTi"/>
              </a:defRPr>
            </a:pPr>
            <a:r>
              <a:t>为什么用临时顺序节点？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913632"/>
            <a:ext cx="5071719" cy="420624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6666"/>
                </a:solidFill>
                <a:latin typeface="Alibaba PuHuiTi"/>
              </a:defRPr>
            </a:pPr>
            <a:r>
              <a:t>临时：进程崩了/网络断了，ZK 会话超时，节点自动删除</a:t>
            </a:r>
            <a:br/>
            <a:r>
              <a:t>顺序：避免多节点同名冲突，自动加序号后缀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188719"/>
            <a:ext cx="5346039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2151" y="1197863"/>
            <a:ext cx="5272887" cy="36576"/>
          </a:xfrm>
          <a:prstGeom prst="rect">
            <a:avLst/>
          </a:prstGeom>
          <a:solidFill>
            <a:srgbClr val="722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15303" y="1261872"/>
            <a:ext cx="5117439" cy="22860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722ED1"/>
                </a:solidFill>
                <a:latin typeface="Alibaba PuHuiTi"/>
              </a:defRPr>
            </a:pPr>
            <a:r>
              <a:t>ZooKeeper 树形结构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5303" y="1536191"/>
            <a:ext cx="5071719" cy="694944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6666"/>
                </a:solidFill>
                <a:latin typeface="Alibaba PuHuiTi"/>
              </a:defRPr>
            </a:pPr>
            <a:r>
              <a:t>/dg-rpc              ← 根路径（持久）</a:t>
            </a:r>
            <a:br/>
            <a:r>
              <a:t>  └── HelloService    ← 服务节点（持久）</a:t>
            </a:r>
            <a:br/>
            <a:r>
              <a:t>       ├── instance-0000000000  ← 实例1（临时）</a:t>
            </a:r>
            <a:br/>
            <a:r>
              <a:t>       └── instance-0000000001  ← 实例2（临时）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5575" y="2377440"/>
            <a:ext cx="5346039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42151" y="2386584"/>
            <a:ext cx="5272887" cy="36576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15303" y="2450592"/>
            <a:ext cx="5117439" cy="22860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A8C16"/>
                </a:solidFill>
                <a:latin typeface="Alibaba PuHuiTi"/>
              </a:defRPr>
            </a:pPr>
            <a:r>
              <a:t>当前不足与优化方向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5303" y="2724912"/>
            <a:ext cx="5071719" cy="1106424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6666"/>
                </a:solidFill>
                <a:latin typeface="Alibaba PuHuiTi"/>
              </a:defRPr>
            </a:pPr>
            <a:r>
              <a:t>问题：每次调用都查 ZK，延迟高、压力大</a:t>
            </a:r>
            <a:br/>
            <a:br/>
            <a:r>
              <a:t>优化方案：</a:t>
            </a:r>
            <a:br/>
            <a:r>
              <a:t>1. ConcurrentHashMap 本地缓存</a:t>
            </a:r>
            <a:br/>
            <a:r>
              <a:t>2. 5 秒过期时间</a:t>
            </a:r>
            <a:br/>
            <a:r>
              <a:t>3. Watcher 监听 NodeChildrenChanged 事件刷新</a:t>
            </a:r>
            <a:br/>
            <a:r>
              <a:t>→ 读取频率从"每次调用"降到"最多 5 秒一次 + 事件触发"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5575" y="3977640"/>
            <a:ext cx="5346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2151" y="3986784"/>
            <a:ext cx="5272887" cy="36576"/>
          </a:xfrm>
          <a:prstGeom prst="rect">
            <a:avLst/>
          </a:prstGeom>
          <a:solidFill>
            <a:srgbClr val="13C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15303" y="4050792"/>
            <a:ext cx="5117439" cy="22860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3C2C2"/>
                </a:solidFill>
                <a:latin typeface="Alibaba PuHuiTi"/>
              </a:defRPr>
            </a:pPr>
            <a:r>
              <a:t>ZK 挂了怎么办？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5303" y="4325112"/>
            <a:ext cx="5071719" cy="557784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6666"/>
                </a:solidFill>
                <a:latin typeface="Alibaba PuHuiTi"/>
              </a:defRPr>
            </a:pPr>
            <a:r>
              <a:t>已有连接（channelMap 缓存）不受影响</a:t>
            </a:r>
            <a:br/>
            <a:r>
              <a:t>新服务注册不了，新消费者找不到服务</a:t>
            </a:r>
            <a:br/>
            <a:r>
              <a:t>缺少本地缓存降级机制——后续改进方向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47472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212121"/>
                </a:solidFill>
                <a:latin typeface="Alibaba PuHuiTi"/>
              </a:defRPr>
            </a:pPr>
            <a:r>
              <a:t>Spring 注解集成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95528"/>
            <a:ext cx="9144000" cy="201168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Alibaba PuHuiTi"/>
              </a:defRPr>
            </a:pPr>
            <a:r>
              <a:t>两个注解搞定，接入零门槛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19"/>
            <a:ext cx="5346039" cy="186880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" y="1197863"/>
            <a:ext cx="5272887" cy="36576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261872"/>
            <a:ext cx="5117439" cy="22860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677FF"/>
                </a:solidFill>
                <a:latin typeface="Alibaba PuHuiTi"/>
              </a:defRPr>
            </a:pPr>
            <a:r>
              <a:t>@RpcService — 提供者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536191"/>
            <a:ext cx="5071719" cy="1466469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66666"/>
                </a:solidFill>
                <a:latin typeface="Alibaba PuHuiTi"/>
              </a:defRPr>
            </a:pPr>
            <a:r>
              <a:t>@RpcService</a:t>
            </a:r>
            <a:br/>
            <a:r>
              <a:t>public class HelloServiceImpl implements HelloService {</a:t>
            </a:r>
            <a:br/>
            <a:r>
              <a:t>    public String sayHello(String name) {</a:t>
            </a:r>
            <a:br/>
            <a:r>
              <a:t>        return "Hello, " + name + "!";</a:t>
            </a:r>
            <a:br/>
            <a:r>
              <a:t>    }</a:t>
            </a:r>
            <a:br/>
            <a:r>
              <a:t>}</a:t>
            </a:r>
            <a:br/>
            <a:br/>
            <a:r>
              <a:t>RpcServiceBeanPostProcessor 在 postProcessAfterInitialization：</a:t>
            </a:r>
            <a:br/>
            <a:r>
              <a:t>1. 扫描 Bean 上的 @RpcService 注解</a:t>
            </a:r>
            <a:br/>
            <a:r>
              <a:t>2. 取 getInterfaces()[0].getName() 作为服务名</a:t>
            </a:r>
            <a:br/>
            <a:r>
              <a:t>3. 将 Bean 注册到本地 serviceMap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5575" y="1188719"/>
            <a:ext cx="5346039" cy="186880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2151" y="1197863"/>
            <a:ext cx="5272887" cy="36576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5303" y="1261872"/>
            <a:ext cx="5117439" cy="22860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C41A"/>
                </a:solidFill>
                <a:latin typeface="Alibaba PuHuiTi"/>
              </a:defRPr>
            </a:pPr>
            <a:r>
              <a:t>@RpcReference — 消费者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5303" y="1536191"/>
            <a:ext cx="5071719" cy="1466469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66666"/>
                </a:solidFill>
                <a:latin typeface="Alibaba PuHuiTi"/>
              </a:defRPr>
            </a:pPr>
            <a:r>
              <a:t>@Component</a:t>
            </a:r>
            <a:br/>
            <a:r>
              <a:t>public class ConsumerBean {</a:t>
            </a:r>
            <a:br/>
            <a:r>
              <a:t>    @RpcReference</a:t>
            </a:r>
            <a:br/>
            <a:r>
              <a:t>    private HelloService helloService;</a:t>
            </a:r>
            <a:br/>
            <a:r>
              <a:t>}</a:t>
            </a:r>
            <a:br/>
            <a:br/>
            <a:r>
              <a:t>RpcReferenceBeanPostProcessor 在 postProcessAfterInitialization：</a:t>
            </a:r>
            <a:br/>
            <a:r>
              <a:t>1. 遍历 Bean 的所有 Field</a:t>
            </a:r>
            <a:br/>
            <a:r>
              <a:t>2. 找到标注 @RpcReference 的字段</a:t>
            </a:r>
            <a:br/>
            <a:r>
              <a:t>3. RpcClientProxy.createProxy() 创建动态代理</a:t>
            </a:r>
            <a:br/>
            <a:r>
              <a:t>4. field.set(bean, proxy) 反射注入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48965"/>
            <a:ext cx="10911535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" y="3158109"/>
            <a:ext cx="10838383" cy="36576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22117"/>
            <a:ext cx="10682935" cy="22860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677FF"/>
                </a:solidFill>
                <a:latin typeface="Alibaba PuHuiTi"/>
              </a:defRPr>
            </a:pPr>
            <a:r>
              <a:t>启动顺序控制 — ApplicationListener&lt;ContextRefreshedEvent&gt;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59" y="3514725"/>
            <a:ext cx="2011680" cy="3200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3533013"/>
            <a:ext cx="2011680" cy="27432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12121"/>
                </a:solidFill>
                <a:latin typeface="Alibaba PuHuiTi"/>
              </a:defRPr>
            </a:pPr>
            <a:r>
              <a:t>Spring 容器启动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7208" y="3514725"/>
            <a:ext cx="137160" cy="32004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99999"/>
                </a:solidFill>
                <a:latin typeface="Alibaba PuHuiT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71800" y="3514725"/>
            <a:ext cx="2011680" cy="320040"/>
          </a:xfrm>
          <a:prstGeom prst="roundRect">
            <a:avLst/>
          </a:prstGeom>
          <a:solidFill>
            <a:srgbClr val="E6F4FF"/>
          </a:solidFill>
          <a:ln w="12700"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800" y="3533013"/>
            <a:ext cx="2011680" cy="27432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677FF"/>
                </a:solidFill>
                <a:latin typeface="Alibaba PuHuiTi"/>
              </a:defRPr>
            </a:pPr>
            <a:r>
              <a:t>Bean 初始化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6048" y="3514725"/>
            <a:ext cx="137160" cy="32004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99999"/>
                </a:solidFill>
                <a:latin typeface="Alibaba PuHuiT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0640" y="3514725"/>
            <a:ext cx="2011680" cy="320040"/>
          </a:xfrm>
          <a:prstGeom prst="roundRect">
            <a:avLst/>
          </a:prstGeom>
          <a:solidFill>
            <a:srgbClr val="F6FFED"/>
          </a:solidFill>
          <a:ln w="12700">
            <a:solidFill>
              <a:srgbClr val="52C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3533013"/>
            <a:ext cx="2011680" cy="27432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2C41A"/>
                </a:solidFill>
                <a:latin typeface="Alibaba PuHuiTi"/>
              </a:defRPr>
            </a:pPr>
            <a:r>
              <a:t>收集@RpcService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04888" y="3514725"/>
            <a:ext cx="137160" cy="32004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99999"/>
                </a:solidFill>
                <a:latin typeface="Alibaba PuHuiT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69480" y="3514725"/>
            <a:ext cx="2011680" cy="320040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A8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533013"/>
            <a:ext cx="2011680" cy="27432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A8C16"/>
                </a:solidFill>
                <a:latin typeface="Alibaba PuHuiTi"/>
              </a:defRPr>
            </a:pPr>
            <a:r>
              <a:t>ContextRefreshedEvent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3728" y="3514725"/>
            <a:ext cx="137160" cy="32004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99999"/>
                </a:solidFill>
                <a:latin typeface="Alibaba PuHuiTi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18320" y="3514725"/>
            <a:ext cx="2011680" cy="320040"/>
          </a:xfrm>
          <a:prstGeom prst="roundRect">
            <a:avLst/>
          </a:prstGeom>
          <a:solidFill>
            <a:srgbClr val="F9F0FF"/>
          </a:solidFill>
          <a:ln w="12700">
            <a:solidFill>
              <a:srgbClr val="722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0" y="3533013"/>
            <a:ext cx="2011680" cy="27432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22ED1"/>
                </a:solidFill>
                <a:latin typeface="Alibaba PuHuiTi"/>
              </a:defRPr>
            </a:pPr>
            <a:r>
              <a:t>启动 Netty 服务端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" y="3898773"/>
            <a:ext cx="10545775" cy="292608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libaba PuHuiTi"/>
              </a:defRPr>
            </a:pPr>
            <a:r>
              <a:t>确保所有 Bean 就绪后才启动服务端，避免"服务已发布但 Bean 未准备好"的竞态问题。@PreDestroy 保证优雅关闭。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246245"/>
            <a:ext cx="10911535" cy="22860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677FF"/>
                </a:solidFill>
                <a:latin typeface="Alibaba PuHuiTi"/>
              </a:defRPr>
            </a:pPr>
            <a:r>
              <a:t>RpcAutoConfiguration · META-INF/spring/...AutoConfiguration.imports · Spring Boot 自动装配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47472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212121"/>
                </a:solidFill>
                <a:latin typeface="Alibaba PuHuiTi"/>
              </a:defRPr>
            </a:pPr>
            <a:r>
              <a:t>一次完整调用链路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95528"/>
            <a:ext cx="9144000" cy="201168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Alibaba PuHuiTi"/>
              </a:defRPr>
            </a:pPr>
            <a:r>
              <a:t>从 sayHello("World") 到拿到结果，端到端全流程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19"/>
            <a:ext cx="10911535" cy="457200"/>
          </a:xfrm>
          <a:prstGeom prst="round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188719"/>
            <a:ext cx="27432" cy="457200"/>
          </a:xfrm>
          <a:prstGeom prst="rect">
            <a:avLst/>
          </a:prstGeom>
          <a:solidFill>
            <a:srgbClr val="722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1298448"/>
            <a:ext cx="256032" cy="256032"/>
          </a:xfrm>
          <a:prstGeom prst="ellipse">
            <a:avLst/>
          </a:prstGeom>
          <a:solidFill>
            <a:srgbClr val="722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libaba PuHuiT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207007"/>
            <a:ext cx="1097280" cy="18288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12121"/>
                </a:solidFill>
                <a:latin typeface="Alibaba PuHuiTi"/>
              </a:defRPr>
            </a:pPr>
            <a:r>
              <a:t>业务调用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76272" y="1207007"/>
            <a:ext cx="8991295" cy="244602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helloService.sayHello("World") → RpcClientProxy.invoke() 拦截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19072"/>
            <a:ext cx="10911535" cy="457200"/>
          </a:xfrm>
          <a:prstGeom prst="round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719072"/>
            <a:ext cx="27432" cy="45720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9808" y="1828800"/>
            <a:ext cx="256032" cy="256032"/>
          </a:xfrm>
          <a:prstGeom prst="ellipse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libaba PuHuiT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1737360"/>
            <a:ext cx="1097280" cy="18288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12121"/>
                </a:solidFill>
                <a:latin typeface="Alibaba PuHuiTi"/>
              </a:defRPr>
            </a:pPr>
            <a:r>
              <a:t>服务发现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76272" y="1737360"/>
            <a:ext cx="8991295" cy="244602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ZooKeeper.discover("HelloService") → 获取实例列表 → LoadBalancer.select()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249424"/>
            <a:ext cx="10911535" cy="457200"/>
          </a:xfrm>
          <a:prstGeom prst="round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249424"/>
            <a:ext cx="27432" cy="457200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8" y="2359152"/>
            <a:ext cx="256032" cy="256032"/>
          </a:xfrm>
          <a:prstGeom prst="ellipse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libaba PuHuiT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2267712"/>
            <a:ext cx="1097280" cy="18288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12121"/>
                </a:solidFill>
                <a:latin typeface="Alibaba PuHuiTi"/>
              </a:defRPr>
            </a:pPr>
            <a:r>
              <a:t>构造 &amp; 编码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76272" y="2267712"/>
            <a:ext cx="8991295" cy="244602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RpcRequest → 序列化 → RpcMessage(+19字节协议头) → RpcMessageEncoder → ByteBuf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779776"/>
            <a:ext cx="10911535" cy="457200"/>
          </a:xfrm>
          <a:prstGeom prst="round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2779776"/>
            <a:ext cx="27432" cy="45720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9808" y="2889504"/>
            <a:ext cx="256032" cy="256032"/>
          </a:xfrm>
          <a:prstGeom prst="ellipse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libaba PuHuiT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2798064"/>
            <a:ext cx="1097280" cy="18288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12121"/>
                </a:solidFill>
                <a:latin typeface="Alibaba PuHuiTi"/>
              </a:defRPr>
            </a:pPr>
            <a:r>
              <a:t>Future 等待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76272" y="2798064"/>
            <a:ext cx="8991295" cy="244602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channel.writeAndFlush(msg) → CompletableFuture 放入等待表 → future.get() 阻塞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310128"/>
            <a:ext cx="10911535" cy="457200"/>
          </a:xfrm>
          <a:prstGeom prst="round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3310128"/>
            <a:ext cx="27432" cy="457200"/>
          </a:xfrm>
          <a:prstGeom prst="rect">
            <a:avLst/>
          </a:prstGeom>
          <a:solidFill>
            <a:srgbClr val="13C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49808" y="3419856"/>
            <a:ext cx="256032" cy="256032"/>
          </a:xfrm>
          <a:prstGeom prst="ellipse">
            <a:avLst/>
          </a:prstGeom>
          <a:solidFill>
            <a:srgbClr val="13C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libaba PuHuiT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3328416"/>
            <a:ext cx="1097280" cy="18288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12121"/>
                </a:solidFill>
                <a:latin typeface="Alibaba PuHuiTi"/>
              </a:defRPr>
            </a:pPr>
            <a:r>
              <a:t>服务端处理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76272" y="3328416"/>
            <a:ext cx="8991295" cy="244602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RpcMessageDecoder 校验魔数+拆包 → 反序列化 → RequestHandler 反射执行 method.invoke()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3840480"/>
            <a:ext cx="10911535" cy="457200"/>
          </a:xfrm>
          <a:prstGeom prst="round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3840480"/>
            <a:ext cx="27432" cy="457200"/>
          </a:xfrm>
          <a:prstGeom prst="rect">
            <a:avLst/>
          </a:prstGeom>
          <a:solidFill>
            <a:srgbClr val="F5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49808" y="3950208"/>
            <a:ext cx="256032" cy="256032"/>
          </a:xfrm>
          <a:prstGeom prst="ellipse">
            <a:avLst/>
          </a:prstGeom>
          <a:solidFill>
            <a:srgbClr val="F5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libaba PuHuiTi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" y="3858768"/>
            <a:ext cx="1097280" cy="18288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12121"/>
                </a:solidFill>
                <a:latin typeface="Alibaba PuHuiTi"/>
              </a:defRPr>
            </a:pPr>
            <a:r>
              <a:t>响应返回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76272" y="3858768"/>
            <a:ext cx="8991295" cy="244602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RpcResponse → 编码 → 网络传输 → RpcClientHandler 按 requestId 匹配 → future.complete() 唤醒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462272"/>
            <a:ext cx="10911535" cy="409194"/>
          </a:xfrm>
          <a:prstGeom prst="roundRect">
            <a:avLst/>
          </a:prstGeom>
          <a:solidFill>
            <a:srgbClr val="E6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" y="4462272"/>
            <a:ext cx="36576" cy="409194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535424"/>
            <a:ext cx="10637215" cy="272034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链路可视化：RpcTrace 在每个关键节点投递事件（step 1-6），前端通过 SSE 实时推送，浏览器可看到完整调用路径。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008626"/>
            <a:ext cx="3545738" cy="857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76656" y="5017770"/>
            <a:ext cx="3472586" cy="36576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8" y="5081778"/>
            <a:ext cx="3317138" cy="22860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677FF"/>
                </a:solidFill>
                <a:latin typeface="Alibaba PuHuiTi"/>
              </a:defRPr>
            </a:pPr>
            <a:r>
              <a:t>异步转同步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5356098"/>
            <a:ext cx="3271418" cy="454914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libaba PuHuiTi"/>
              </a:defRPr>
            </a:pPr>
            <a:r>
              <a:t>CompletableFuture 等待表</a:t>
            </a:r>
            <a:br/>
            <a:r>
              <a:t>requestId 匹配请求与响应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22978" y="5008626"/>
            <a:ext cx="3545738" cy="101155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59554" y="5017770"/>
            <a:ext cx="3472586" cy="36576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32706" y="5081778"/>
            <a:ext cx="3317138" cy="22860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A8C16"/>
                </a:solidFill>
                <a:latin typeface="Alibaba PuHuiTi"/>
              </a:defRPr>
            </a:pPr>
            <a:r>
              <a:t>异常透传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32706" y="5356098"/>
            <a:ext cx="3271418" cy="609219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libaba PuHuiTi"/>
              </a:defRPr>
            </a:pPr>
            <a:r>
              <a:t>InvocationTargetException</a:t>
            </a:r>
            <a:br/>
            <a:r>
              <a:t>→ getCause() → RpcResponse</a:t>
            </a:r>
            <a:br/>
            <a:r>
              <a:t>→ 客户端 throw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05876" y="5008626"/>
            <a:ext cx="3545738" cy="857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042452" y="5017770"/>
            <a:ext cx="3472586" cy="36576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15604" y="5081778"/>
            <a:ext cx="3317138" cy="22860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C41A"/>
                </a:solidFill>
                <a:latin typeface="Alibaba PuHuiTi"/>
              </a:defRPr>
            </a:pPr>
            <a:r>
              <a:t>JSON 类型矫正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15604" y="5356098"/>
            <a:ext cx="3271418" cy="454914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libaba PuHuiTi"/>
              </a:defRPr>
            </a:pPr>
            <a:r>
              <a:t>Gson 反序列化数字默认 Double</a:t>
            </a:r>
            <a:br/>
            <a:r>
              <a:t>代理层按 returnType 矫正为 int/long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47472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212121"/>
                </a:solidFill>
                <a:latin typeface="Alibaba PuHuiTi"/>
              </a:defRPr>
            </a:pPr>
            <a:r>
              <a:t>测试结果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95528"/>
            <a:ext cx="9144000" cy="201168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Alibaba PuHuiTi"/>
              </a:defRPr>
            </a:pPr>
            <a:r>
              <a:t>功能测试全通过 + 性能基准测试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19"/>
            <a:ext cx="3545738" cy="857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" y="1197863"/>
            <a:ext cx="3472586" cy="36576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261872"/>
            <a:ext cx="3317138" cy="22860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677FF"/>
                </a:solidFill>
                <a:latin typeface="Alibaba PuHuiTi"/>
              </a:defRPr>
            </a:pPr>
            <a:r>
              <a:t>远程调用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536191"/>
            <a:ext cx="3271418" cy="454914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libaba PuHuiTi"/>
              </a:defRPr>
            </a:pPr>
            <a:r>
              <a:t>sayHello 返回正确结果</a:t>
            </a:r>
            <a:br/>
            <a:r>
              <a:t>add(1,2) =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2978" y="1188719"/>
            <a:ext cx="3545738" cy="857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59554" y="1197863"/>
            <a:ext cx="3472586" cy="36576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2706" y="1261872"/>
            <a:ext cx="3317138" cy="22860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C41A"/>
                </a:solidFill>
                <a:latin typeface="Alibaba PuHuiTi"/>
              </a:defRPr>
            </a:pPr>
            <a:r>
              <a:t>协议解析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2706" y="1536191"/>
            <a:ext cx="3271418" cy="454914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libaba PuHuiTi"/>
              </a:defRPr>
            </a:pPr>
            <a:r>
              <a:t>魔数校验 · 粘包拆包</a:t>
            </a:r>
            <a:br/>
            <a:r>
              <a:t>序列化动态切换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5876" y="1188719"/>
            <a:ext cx="3545738" cy="857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2452" y="1197863"/>
            <a:ext cx="3472586" cy="36576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5604" y="1261872"/>
            <a:ext cx="3317138" cy="22860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A8C16"/>
                </a:solidFill>
                <a:latin typeface="Alibaba PuHuiTi"/>
              </a:defRPr>
            </a:pPr>
            <a:r>
              <a:t>负载均衡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5604" y="1536191"/>
            <a:ext cx="3271418" cy="454914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libaba PuHuiTi"/>
              </a:defRPr>
            </a:pPr>
            <a:r>
              <a:t>轮询 RoundRobin</a:t>
            </a:r>
            <a:br/>
            <a:r>
              <a:t>随机 Random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606039"/>
            <a:ext cx="3545738" cy="857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" y="2615183"/>
            <a:ext cx="3472586" cy="36576"/>
          </a:xfrm>
          <a:prstGeom prst="rect">
            <a:avLst/>
          </a:prstGeom>
          <a:solidFill>
            <a:srgbClr val="722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679191"/>
            <a:ext cx="3317138" cy="22860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722ED1"/>
                </a:solidFill>
                <a:latin typeface="Alibaba PuHuiTi"/>
              </a:defRPr>
            </a:pPr>
            <a:r>
              <a:t>Spring 集成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953511"/>
            <a:ext cx="3271418" cy="454914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libaba PuHuiTi"/>
              </a:defRPr>
            </a:pPr>
            <a:r>
              <a:t>@RpcService 注册</a:t>
            </a:r>
            <a:br/>
            <a:r>
              <a:t>@RpcReference 注入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2978" y="2606039"/>
            <a:ext cx="3545738" cy="857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59554" y="2615183"/>
            <a:ext cx="3472586" cy="36576"/>
          </a:xfrm>
          <a:prstGeom prst="rect">
            <a:avLst/>
          </a:prstGeom>
          <a:solidFill>
            <a:srgbClr val="13C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2706" y="2679191"/>
            <a:ext cx="3317138" cy="22860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3C2C2"/>
                </a:solidFill>
                <a:latin typeface="Alibaba PuHuiTi"/>
              </a:defRPr>
            </a:pPr>
            <a:r>
              <a:t>服务发现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2706" y="2953511"/>
            <a:ext cx="3271418" cy="454914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libaba PuHuiTi"/>
              </a:defRPr>
            </a:pPr>
            <a:r>
              <a:t>ZooKeeper 注册/发现</a:t>
            </a:r>
            <a:br/>
            <a:r>
              <a:t>InMemory 内存模式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05876" y="2606039"/>
            <a:ext cx="3545738" cy="857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2452" y="2615183"/>
            <a:ext cx="3472586" cy="36576"/>
          </a:xfrm>
          <a:prstGeom prst="rect">
            <a:avLst/>
          </a:prstGeom>
          <a:solidFill>
            <a:srgbClr val="F5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15604" y="2679191"/>
            <a:ext cx="3317138" cy="22860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5222D"/>
                </a:solidFill>
                <a:latin typeface="Alibaba PuHuiTi"/>
              </a:defRPr>
            </a:pPr>
            <a:r>
              <a:t>链路可视化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5604" y="2953511"/>
            <a:ext cx="3271418" cy="454914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libaba PuHuiTi"/>
              </a:defRPr>
            </a:pPr>
            <a:r>
              <a:t>SSE 实时推送</a:t>
            </a:r>
            <a:br/>
            <a:r>
              <a:t>step 1-6 全链路追踪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206240"/>
            <a:ext cx="5486400" cy="32004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12121"/>
                </a:solidFill>
                <a:latin typeface="Alibaba PuHuiTi"/>
              </a:defRPr>
            </a:pPr>
            <a:r>
              <a:t>性能基准测试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526280"/>
            <a:ext cx="9144000" cy="201168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99999"/>
                </a:solidFill>
                <a:latin typeface="Alibaba PuHuiTi"/>
              </a:defRPr>
            </a:pPr>
            <a:r>
              <a:t>单机回环 · add(int,int) · 20并发 · 50000次调用 · 5000次预热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800600"/>
            <a:ext cx="2286000" cy="329184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19" y="4818888"/>
            <a:ext cx="2103120" cy="292608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libaba PuHuiTi"/>
              </a:defRPr>
            </a:pPr>
            <a:r>
              <a:t>序列化方式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0" y="4800600"/>
            <a:ext cx="2560320" cy="329184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17520" y="4818888"/>
            <a:ext cx="2377439" cy="292608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libaba PuHuiTi"/>
              </a:defRPr>
            </a:pPr>
            <a:r>
              <a:t>吞吐量 (ops/s)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0" y="4800600"/>
            <a:ext cx="2560320" cy="329184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77840" y="4818888"/>
            <a:ext cx="2377439" cy="292608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libaba PuHuiTi"/>
              </a:defRPr>
            </a:pPr>
            <a:r>
              <a:t>平均延迟 (μs)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20" y="4800600"/>
            <a:ext cx="2560320" cy="329184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38160" y="4818888"/>
            <a:ext cx="2377439" cy="292608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libaba PuHuiTi"/>
              </a:defRPr>
            </a:pPr>
            <a:r>
              <a:t>P99延迟 (μs)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148072"/>
            <a:ext cx="2286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19" y="5166360"/>
            <a:ext cx="2103120" cy="292608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JSON (Gson)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26080" y="514807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5166360"/>
            <a:ext cx="2377439" cy="292608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77FF"/>
                </a:solidFill>
                <a:latin typeface="Alibaba PuHuiTi"/>
              </a:defRPr>
            </a:pPr>
            <a:r>
              <a:t>74,786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0" y="514807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77840" y="5166360"/>
            <a:ext cx="2377439" cy="292608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265.25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46720" y="514807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38160" y="5166360"/>
            <a:ext cx="2377439" cy="292608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534.90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5495544"/>
            <a:ext cx="2286000" cy="329184"/>
          </a:xfrm>
          <a:prstGeom prst="rect">
            <a:avLst/>
          </a:prstGeom>
          <a:solidFill>
            <a:srgbClr val="F7F8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19" y="5513832"/>
            <a:ext cx="2103120" cy="292608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Hessian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26080" y="5495544"/>
            <a:ext cx="2560320" cy="329184"/>
          </a:xfrm>
          <a:prstGeom prst="rect">
            <a:avLst/>
          </a:prstGeom>
          <a:solidFill>
            <a:srgbClr val="F7F8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017520" y="5513832"/>
            <a:ext cx="2377439" cy="292608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42,540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0" y="5495544"/>
            <a:ext cx="2560320" cy="329184"/>
          </a:xfrm>
          <a:prstGeom prst="rect">
            <a:avLst/>
          </a:prstGeom>
          <a:solidFill>
            <a:srgbClr val="F7F8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77840" y="5513832"/>
            <a:ext cx="2377439" cy="292608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467.98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46720" y="5495544"/>
            <a:ext cx="2560320" cy="329184"/>
          </a:xfrm>
          <a:prstGeom prst="rect">
            <a:avLst/>
          </a:prstGeom>
          <a:solidFill>
            <a:srgbClr val="F7F8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38160" y="5513832"/>
            <a:ext cx="2377439" cy="292608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957.20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" y="5980176"/>
            <a:ext cx="10911535" cy="580644"/>
          </a:xfrm>
          <a:prstGeom prst="roundRect">
            <a:avLst/>
          </a:prstGeom>
          <a:solidFill>
            <a:srgbClr val="E6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40080" y="5980176"/>
            <a:ext cx="36576" cy="580644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7240" y="6053328"/>
            <a:ext cx="10637215" cy="443484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JSON 吞吐量约为 Hessian 的 1.76 倍，但这是简单参数场景。Gson 对基础类型解析极快，Hessian 有类型标记、引用表等二进制结构开销。真实环境下复杂对象+网络开销，Hessian 的二进制压缩优势才能体现。框架默认仍为 Hessian。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47472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212121"/>
                </a:solidFill>
                <a:latin typeface="Alibaba PuHuiTi"/>
              </a:defRPr>
            </a:pPr>
            <a:r>
              <a:t>总结与反思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95528"/>
            <a:ext cx="9144000" cy="201168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Alibaba PuHuiTi"/>
              </a:defRPr>
            </a:pPr>
            <a:r>
              <a:t>六大核心成果 + 不足与改进方向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19"/>
            <a:ext cx="3545738" cy="101155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" y="1197863"/>
            <a:ext cx="3472586" cy="36576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19" y="1261872"/>
            <a:ext cx="256032" cy="256032"/>
          </a:xfrm>
          <a:prstGeom prst="ellipse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libaba PuHuiT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261872"/>
            <a:ext cx="2997098" cy="22860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677FF"/>
                </a:solidFill>
                <a:latin typeface="Alibaba PuHuiTi"/>
              </a:defRPr>
            </a:pPr>
            <a:r>
              <a:t>自定义协议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536191"/>
            <a:ext cx="3271418" cy="609219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libaba PuHuiTi"/>
              </a:defRPr>
            </a:pPr>
            <a:r>
              <a:t>19字节二进制协议头</a:t>
            </a:r>
            <a:br/>
            <a:r>
              <a:t>解决粘包拆包</a:t>
            </a:r>
            <a:br/>
            <a:r>
              <a:t>魔数校验防误连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2978" y="1188719"/>
            <a:ext cx="3545738" cy="101155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59554" y="1197863"/>
            <a:ext cx="3472586" cy="36576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14418" y="1261872"/>
            <a:ext cx="256032" cy="256032"/>
          </a:xfrm>
          <a:prstGeom prst="ellipse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libaba PuHuiT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4458" y="1261872"/>
            <a:ext cx="2997098" cy="22860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A8C16"/>
                </a:solidFill>
                <a:latin typeface="Alibaba PuHuiTi"/>
              </a:defRPr>
            </a:pPr>
            <a:r>
              <a:t>异步转同步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2706" y="1536191"/>
            <a:ext cx="3271418" cy="609219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libaba PuHuiTi"/>
              </a:defRPr>
            </a:pPr>
            <a:r>
              <a:t>Netty + CompletableFuture</a:t>
            </a:r>
            <a:br/>
            <a:r>
              <a:t>两层Future语义分离</a:t>
            </a:r>
            <a:br/>
            <a:r>
              <a:t>超时清理机制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5876" y="1188719"/>
            <a:ext cx="3545738" cy="101155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2452" y="1197863"/>
            <a:ext cx="3472586" cy="36576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97316" y="1261872"/>
            <a:ext cx="256032" cy="256032"/>
          </a:xfrm>
          <a:prstGeom prst="ellipse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libaba PuHuiT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7356" y="1261872"/>
            <a:ext cx="2997098" cy="22860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C41A"/>
                </a:solidFill>
                <a:latin typeface="Alibaba PuHuiTi"/>
              </a:defRPr>
            </a:pPr>
            <a:r>
              <a:t>服务治理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5604" y="1536191"/>
            <a:ext cx="3271418" cy="609219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libaba PuHuiTi"/>
              </a:defRPr>
            </a:pPr>
            <a:r>
              <a:t>ZooKeeper临时顺序节点</a:t>
            </a:r>
            <a:br/>
            <a:r>
              <a:t>服务注册发现</a:t>
            </a:r>
            <a:br/>
            <a:r>
              <a:t>自动摘除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651760"/>
            <a:ext cx="3545738" cy="101155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6656" y="2660903"/>
            <a:ext cx="3472586" cy="36576"/>
          </a:xfrm>
          <a:prstGeom prst="rect">
            <a:avLst/>
          </a:prstGeom>
          <a:solidFill>
            <a:srgbClr val="722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19" y="2724912"/>
            <a:ext cx="256032" cy="256032"/>
          </a:xfrm>
          <a:prstGeom prst="ellipse">
            <a:avLst/>
          </a:prstGeom>
          <a:solidFill>
            <a:srgbClr val="722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libaba PuHuiT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2724912"/>
            <a:ext cx="2997098" cy="22860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722ED1"/>
                </a:solidFill>
                <a:latin typeface="Alibaba PuHuiTi"/>
              </a:defRPr>
            </a:pPr>
            <a:r>
              <a:t>透明调用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2999232"/>
            <a:ext cx="3271418" cy="609219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libaba PuHuiTi"/>
              </a:defRPr>
            </a:pPr>
            <a:r>
              <a:t>JDK动态代理+反射</a:t>
            </a:r>
            <a:br/>
            <a:r>
              <a:t>异常透传</a:t>
            </a:r>
            <a:br/>
            <a:r>
              <a:t>含重试机制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2978" y="2651760"/>
            <a:ext cx="3545738" cy="101155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59554" y="2660903"/>
            <a:ext cx="3472586" cy="36576"/>
          </a:xfrm>
          <a:prstGeom prst="rect">
            <a:avLst/>
          </a:prstGeom>
          <a:solidFill>
            <a:srgbClr val="13C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414418" y="2724912"/>
            <a:ext cx="256032" cy="256032"/>
          </a:xfrm>
          <a:prstGeom prst="ellipse">
            <a:avLst/>
          </a:prstGeom>
          <a:solidFill>
            <a:srgbClr val="13C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libaba PuHuiT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34458" y="2724912"/>
            <a:ext cx="2997098" cy="22860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3C2C2"/>
                </a:solidFill>
                <a:latin typeface="Alibaba PuHuiTi"/>
              </a:defRPr>
            </a:pPr>
            <a:r>
              <a:t>Spring集成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2706" y="2999232"/>
            <a:ext cx="3271418" cy="609219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libaba PuHuiTi"/>
              </a:defRPr>
            </a:pPr>
            <a:r>
              <a:t>@RpcService @RpcReference</a:t>
            </a:r>
            <a:br/>
            <a:r>
              <a:t>ApplicationListener</a:t>
            </a:r>
            <a:br/>
            <a:r>
              <a:t>启动顺序可控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05876" y="2651760"/>
            <a:ext cx="3545738" cy="101155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2452" y="2660903"/>
            <a:ext cx="3472586" cy="36576"/>
          </a:xfrm>
          <a:prstGeom prst="rect">
            <a:avLst/>
          </a:prstGeom>
          <a:solidFill>
            <a:srgbClr val="F5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097316" y="2724912"/>
            <a:ext cx="256032" cy="256032"/>
          </a:xfrm>
          <a:prstGeom prst="ellipse">
            <a:avLst/>
          </a:prstGeom>
          <a:solidFill>
            <a:srgbClr val="F5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libaba PuHuiTi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7356" y="2724912"/>
            <a:ext cx="2997098" cy="22860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5222D"/>
                </a:solidFill>
                <a:latin typeface="Alibaba PuHuiTi"/>
              </a:defRPr>
            </a:pPr>
            <a:r>
              <a:t>链路可视化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15604" y="2999232"/>
            <a:ext cx="3271418" cy="609219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libaba PuHuiTi"/>
              </a:defRPr>
            </a:pPr>
            <a:r>
              <a:t>SSE实时推送</a:t>
            </a:r>
            <a:br/>
            <a:r>
              <a:t>step级别追踪</a:t>
            </a:r>
            <a:br/>
            <a:r>
              <a:t>调用过程可观测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297680"/>
            <a:ext cx="5346039" cy="15773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76656" y="4306824"/>
            <a:ext cx="5272887" cy="36576"/>
          </a:xfrm>
          <a:prstGeom prst="rect">
            <a:avLst/>
          </a:prstGeom>
          <a:solidFill>
            <a:srgbClr val="F5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4370832"/>
            <a:ext cx="5117439" cy="22860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5222D"/>
                </a:solidFill>
                <a:latin typeface="Alibaba PuHuiTi"/>
              </a:defRPr>
            </a:pPr>
            <a:r>
              <a:t>当前不足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4645152"/>
            <a:ext cx="5071719" cy="1175004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• 缺少熔断限流机制</a:t>
            </a:r>
            <a:br/>
            <a:r>
              <a:t>• 连接池管理不完善（仅单连接缓存）</a:t>
            </a:r>
            <a:br/>
            <a:r>
              <a:t>• 无本地服务发现缓存</a:t>
            </a:r>
            <a:br/>
            <a:r>
              <a:t>• 方法反射未做缓存优化</a:t>
            </a:r>
            <a:br/>
            <a:r>
              <a:t>• 业务逻辑跑在I/O线程上未隔离</a:t>
            </a:r>
            <a:br/>
            <a:r>
              <a:t>• 测试覆盖不够（缺少异常/边界/长时间稳定性测试）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05575" y="4297680"/>
            <a:ext cx="5346039" cy="15773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42151" y="4306824"/>
            <a:ext cx="5272887" cy="36576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15303" y="4370832"/>
            <a:ext cx="5117439" cy="22860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C41A"/>
                </a:solidFill>
                <a:latin typeface="Alibaba PuHuiTi"/>
              </a:defRPr>
            </a:pPr>
            <a:r>
              <a:t>改进方向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15303" y="4645152"/>
            <a:ext cx="5071719" cy="1175004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libaba PuHuiTi"/>
              </a:defRPr>
            </a:pPr>
            <a:r>
              <a:t>• 补充单元测试 + JMH基准测试 + GC日志分析</a:t>
            </a:r>
            <a:br/>
            <a:r>
              <a:t>• ConcurrentHashMap本地缓存 + Watcher监听优化服务发现</a:t>
            </a:r>
            <a:br/>
            <a:r>
              <a:t>• RequestHandler 业务线程池隔离</a:t>
            </a:r>
            <a:br/>
            <a:r>
              <a:t>• Method 缓存（ConcurrentHashMap，预计提升2-3倍）</a:t>
            </a:r>
            <a:br/>
            <a:r>
              <a:t>• 连接池 + 心跳保活 + 断线重连</a:t>
            </a:r>
            <a:br/>
            <a:r>
              <a:t>• Sentinel 熔断降级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6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265615" y="3931920"/>
            <a:ext cx="2560320" cy="2560320"/>
          </a:xfrm>
          <a:prstGeom prst="ellipse">
            <a:avLst/>
          </a:prstGeom>
          <a:noFill/>
          <a:ln w="444500">
            <a:solidFill>
              <a:srgbClr val="FFFFFF">
                <a:alpha val="1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2286000" cy="2286000"/>
          </a:xfrm>
          <a:prstGeom prst="ellipse">
            <a:avLst/>
          </a:prstGeom>
          <a:noFill/>
          <a:ln w="279400">
            <a:solidFill>
              <a:srgbClr val="FFFFFF">
                <a:alpha val="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371600"/>
            <a:ext cx="8503920" cy="64008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Alibaba PuHuiTi"/>
              </a:defRPr>
            </a:pPr>
            <a:r>
              <a:t>感谢各位老师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2377440"/>
            <a:ext cx="7589520" cy="1280160"/>
          </a:xfrm>
          <a:prstGeom prst="roundRect">
            <a:avLst/>
          </a:prstGeom>
          <a:solidFill>
            <a:srgbClr val="1A7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0" y="2468880"/>
            <a:ext cx="7040880" cy="109728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DDEEFF"/>
                </a:solidFill>
                <a:latin typeface="Alibaba PuHuiTi"/>
              </a:defRPr>
            </a:pPr>
            <a:r>
              <a:t>dg-rpc 的价值不在于替代 Dubbo，而在于让你能看清 RPC 每一步在做什么——从代理拦截到协议编码，从服务发现到反射调用，链路是完整的、代码是可读的。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114800"/>
            <a:ext cx="8503920" cy="36576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BDDFF"/>
                </a:solidFill>
                <a:latin typeface="Alibaba PuHuiTi"/>
              </a:defRPr>
            </a:pPr>
            <a:r>
              <a:t>答辩人：丁岗  ·  学号：2701220304  ·  安徽科技工程大学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663440"/>
            <a:ext cx="8503920" cy="320040"/>
          </a:xfrm>
          <a:prstGeom prst="rect">
            <a:avLst/>
          </a:prstGeom>
          <a:noFill/>
        </p:spPr>
        <p:txBody>
          <a:bodyPr wrap="square" tIns="0" bIns="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AACCFF"/>
                </a:solidFill>
                <a:latin typeface="Alibaba PuHuiTi"/>
              </a:defRPr>
            </a:pPr>
            <a:r>
              <a:t>请各位老师批评指正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